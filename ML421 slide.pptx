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0" r:id="rId5"/>
    <p:sldId id="261" r:id="rId6"/>
    <p:sldId id="262" r:id="rId7"/>
    <p:sldId id="263" r:id="rId8"/>
  </p:sldIdLst>
  <p:sldSz cx="18288000" cy="10287000"/>
  <p:notesSz cx="6858000" cy="9144000"/>
  <p:embeddedFontLst>
    <p:embeddedFont>
      <p:font typeface="Calibri" panose="020F0502020204030204" pitchFamily="34" charset="0"/>
      <p:regular r:id="rId9"/>
      <p:bold r:id="rId10"/>
      <p:italic r:id="rId11"/>
      <p:boldItalic r:id="rId12"/>
    </p:embeddedFont>
    <p:embeddedFont>
      <p:font typeface="Poppins" panose="00000500000000000000" pitchFamily="2" charset="0"/>
      <p:regular r:id="rId13"/>
    </p:embeddedFont>
    <p:embeddedFont>
      <p:font typeface="Poppins Bold" panose="00000800000000000000"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ayongtan630@gmail.com" initials="j" lastIdx="1" clrIdx="0">
    <p:extLst>
      <p:ext uri="{19B8F6BF-5375-455C-9EA6-DF929625EA0E}">
        <p15:presenceInfo xmlns:p15="http://schemas.microsoft.com/office/powerpoint/2012/main" userId="30a20f927035c92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font" Target="fonts/font2.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77" b="-777"/>
            </a:stretch>
          </a:blipFill>
        </p:spPr>
      </p:sp>
      <p:sp>
        <p:nvSpPr>
          <p:cNvPr id="3" name="TextBox 3"/>
          <p:cNvSpPr txBox="1"/>
          <p:nvPr/>
        </p:nvSpPr>
        <p:spPr>
          <a:xfrm>
            <a:off x="1290982" y="3415882"/>
            <a:ext cx="12638608" cy="1610083"/>
          </a:xfrm>
          <a:prstGeom prst="rect">
            <a:avLst/>
          </a:prstGeom>
        </p:spPr>
        <p:txBody>
          <a:bodyPr lIns="0" tIns="0" rIns="0" bIns="0" rtlCol="0" anchor="t">
            <a:spAutoFit/>
          </a:bodyPr>
          <a:lstStyle/>
          <a:p>
            <a:pPr algn="l">
              <a:lnSpc>
                <a:spcPts val="12578"/>
              </a:lnSpc>
            </a:pPr>
            <a:r>
              <a:rPr lang="en-US" sz="8984" b="1">
                <a:solidFill>
                  <a:srgbClr val="FFFFFF"/>
                </a:solidFill>
                <a:latin typeface="Poppins Bold"/>
                <a:ea typeface="Poppins Bold"/>
                <a:cs typeface="Poppins Bold"/>
                <a:sym typeface="Poppins Bold"/>
              </a:rPr>
              <a:t>ML421 PROJECT</a:t>
            </a:r>
          </a:p>
        </p:txBody>
      </p:sp>
      <p:sp>
        <p:nvSpPr>
          <p:cNvPr id="4" name="TextBox 4"/>
          <p:cNvSpPr txBox="1"/>
          <p:nvPr/>
        </p:nvSpPr>
        <p:spPr>
          <a:xfrm>
            <a:off x="1290982" y="5038725"/>
            <a:ext cx="7088425" cy="609931"/>
          </a:xfrm>
          <a:prstGeom prst="rect">
            <a:avLst/>
          </a:prstGeom>
        </p:spPr>
        <p:txBody>
          <a:bodyPr lIns="0" tIns="0" rIns="0" bIns="0" rtlCol="0" anchor="t">
            <a:spAutoFit/>
          </a:bodyPr>
          <a:lstStyle/>
          <a:p>
            <a:pPr algn="l">
              <a:lnSpc>
                <a:spcPts val="4706"/>
              </a:lnSpc>
            </a:pPr>
            <a:r>
              <a:rPr lang="en-US" sz="3361">
                <a:solidFill>
                  <a:srgbClr val="FFFFFF"/>
                </a:solidFill>
                <a:latin typeface="Poppins"/>
                <a:ea typeface="Poppins"/>
                <a:cs typeface="Poppins"/>
                <a:sym typeface="Poppins"/>
              </a:rPr>
              <a:t>BY Jia Yong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TextBox 3"/>
          <p:cNvSpPr txBox="1"/>
          <p:nvPr/>
        </p:nvSpPr>
        <p:spPr>
          <a:xfrm>
            <a:off x="7188722" y="383499"/>
            <a:ext cx="5225094" cy="1356935"/>
          </a:xfrm>
          <a:prstGeom prst="rect">
            <a:avLst/>
          </a:prstGeom>
        </p:spPr>
        <p:txBody>
          <a:bodyPr lIns="0" tIns="0" rIns="0" bIns="0" rtlCol="0" anchor="t">
            <a:spAutoFit/>
          </a:bodyPr>
          <a:lstStyle/>
          <a:p>
            <a:pPr algn="l">
              <a:lnSpc>
                <a:spcPts val="10596"/>
              </a:lnSpc>
            </a:pPr>
            <a:r>
              <a:rPr lang="en-US" sz="7568" b="1">
                <a:solidFill>
                  <a:srgbClr val="FFFFFF"/>
                </a:solidFill>
                <a:latin typeface="Poppins Bold"/>
                <a:ea typeface="Poppins Bold"/>
                <a:cs typeface="Poppins Bold"/>
                <a:sym typeface="Poppins Bold"/>
              </a:rPr>
              <a:t>CONTENT</a:t>
            </a:r>
          </a:p>
        </p:txBody>
      </p:sp>
      <p:grpSp>
        <p:nvGrpSpPr>
          <p:cNvPr id="4" name="Group 4"/>
          <p:cNvGrpSpPr/>
          <p:nvPr/>
        </p:nvGrpSpPr>
        <p:grpSpPr>
          <a:xfrm>
            <a:off x="1028700" y="2273623"/>
            <a:ext cx="4803418" cy="1517529"/>
            <a:chOff x="0" y="0"/>
            <a:chExt cx="1553952" cy="490935"/>
          </a:xfrm>
        </p:grpSpPr>
        <p:sp>
          <p:nvSpPr>
            <p:cNvPr id="5" name="Freeform 5"/>
            <p:cNvSpPr/>
            <p:nvPr/>
          </p:nvSpPr>
          <p:spPr>
            <a:xfrm>
              <a:off x="0" y="0"/>
              <a:ext cx="1553952" cy="490935"/>
            </a:xfrm>
            <a:custGeom>
              <a:avLst/>
              <a:gdLst/>
              <a:ahLst/>
              <a:cxnLst/>
              <a:rect l="l" t="t" r="r" b="b"/>
              <a:pathLst>
                <a:path w="1553952" h="490935">
                  <a:moveTo>
                    <a:pt x="82199" y="0"/>
                  </a:moveTo>
                  <a:lnTo>
                    <a:pt x="1471752" y="0"/>
                  </a:lnTo>
                  <a:cubicBezTo>
                    <a:pt x="1517150" y="0"/>
                    <a:pt x="1553952" y="36802"/>
                    <a:pt x="1553952" y="82199"/>
                  </a:cubicBezTo>
                  <a:lnTo>
                    <a:pt x="1553952" y="408736"/>
                  </a:lnTo>
                  <a:cubicBezTo>
                    <a:pt x="1553952" y="454133"/>
                    <a:pt x="1517150" y="490935"/>
                    <a:pt x="1471752" y="490935"/>
                  </a:cubicBezTo>
                  <a:lnTo>
                    <a:pt x="82199" y="490935"/>
                  </a:lnTo>
                  <a:cubicBezTo>
                    <a:pt x="36802" y="490935"/>
                    <a:pt x="0" y="454133"/>
                    <a:pt x="0" y="408736"/>
                  </a:cubicBezTo>
                  <a:lnTo>
                    <a:pt x="0" y="82199"/>
                  </a:lnTo>
                  <a:cubicBezTo>
                    <a:pt x="0" y="36802"/>
                    <a:pt x="36802" y="0"/>
                    <a:pt x="82199" y="0"/>
                  </a:cubicBezTo>
                  <a:close/>
                </a:path>
              </a:pathLst>
            </a:custGeom>
            <a:solidFill>
              <a:srgbClr val="FFFFFF">
                <a:alpha val="74902"/>
              </a:srgbClr>
            </a:solidFill>
          </p:spPr>
        </p:sp>
        <p:sp>
          <p:nvSpPr>
            <p:cNvPr id="6" name="TextBox 6"/>
            <p:cNvSpPr txBox="1"/>
            <p:nvPr/>
          </p:nvSpPr>
          <p:spPr>
            <a:xfrm>
              <a:off x="0" y="-57150"/>
              <a:ext cx="1553952" cy="548085"/>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1987087" y="2767419"/>
            <a:ext cx="2714219" cy="450619"/>
          </a:xfrm>
          <a:prstGeom prst="rect">
            <a:avLst/>
          </a:prstGeom>
        </p:spPr>
        <p:txBody>
          <a:bodyPr lIns="0" tIns="0" rIns="0" bIns="0" rtlCol="0" anchor="t">
            <a:spAutoFit/>
          </a:bodyPr>
          <a:lstStyle/>
          <a:p>
            <a:pPr algn="ctr">
              <a:lnSpc>
                <a:spcPts val="3512"/>
              </a:lnSpc>
            </a:pPr>
            <a:r>
              <a:rPr lang="en-US" sz="2509">
                <a:solidFill>
                  <a:srgbClr val="0A152F"/>
                </a:solidFill>
                <a:latin typeface="Poppins"/>
                <a:ea typeface="Poppins"/>
                <a:cs typeface="Poppins"/>
                <a:sym typeface="Poppins"/>
              </a:rPr>
              <a:t>Introduction</a:t>
            </a:r>
          </a:p>
        </p:txBody>
      </p:sp>
      <p:grpSp>
        <p:nvGrpSpPr>
          <p:cNvPr id="8" name="Group 8"/>
          <p:cNvGrpSpPr/>
          <p:nvPr/>
        </p:nvGrpSpPr>
        <p:grpSpPr>
          <a:xfrm>
            <a:off x="6587256" y="2273623"/>
            <a:ext cx="4803418" cy="1517529"/>
            <a:chOff x="0" y="0"/>
            <a:chExt cx="1553952" cy="490935"/>
          </a:xfrm>
        </p:grpSpPr>
        <p:sp>
          <p:nvSpPr>
            <p:cNvPr id="9" name="Freeform 9"/>
            <p:cNvSpPr/>
            <p:nvPr/>
          </p:nvSpPr>
          <p:spPr>
            <a:xfrm>
              <a:off x="0" y="0"/>
              <a:ext cx="1553952" cy="490935"/>
            </a:xfrm>
            <a:custGeom>
              <a:avLst/>
              <a:gdLst/>
              <a:ahLst/>
              <a:cxnLst/>
              <a:rect l="l" t="t" r="r" b="b"/>
              <a:pathLst>
                <a:path w="1553952" h="490935">
                  <a:moveTo>
                    <a:pt x="82199" y="0"/>
                  </a:moveTo>
                  <a:lnTo>
                    <a:pt x="1471752" y="0"/>
                  </a:lnTo>
                  <a:cubicBezTo>
                    <a:pt x="1517150" y="0"/>
                    <a:pt x="1553952" y="36802"/>
                    <a:pt x="1553952" y="82199"/>
                  </a:cubicBezTo>
                  <a:lnTo>
                    <a:pt x="1553952" y="408736"/>
                  </a:lnTo>
                  <a:cubicBezTo>
                    <a:pt x="1553952" y="454133"/>
                    <a:pt x="1517150" y="490935"/>
                    <a:pt x="1471752" y="490935"/>
                  </a:cubicBezTo>
                  <a:lnTo>
                    <a:pt x="82199" y="490935"/>
                  </a:lnTo>
                  <a:cubicBezTo>
                    <a:pt x="36802" y="490935"/>
                    <a:pt x="0" y="454133"/>
                    <a:pt x="0" y="408736"/>
                  </a:cubicBezTo>
                  <a:lnTo>
                    <a:pt x="0" y="82199"/>
                  </a:lnTo>
                  <a:cubicBezTo>
                    <a:pt x="0" y="36802"/>
                    <a:pt x="36802" y="0"/>
                    <a:pt x="82199" y="0"/>
                  </a:cubicBezTo>
                  <a:close/>
                </a:path>
              </a:pathLst>
            </a:custGeom>
            <a:solidFill>
              <a:srgbClr val="FFFFFF">
                <a:alpha val="74902"/>
              </a:srgbClr>
            </a:solidFill>
          </p:spPr>
        </p:sp>
        <p:sp>
          <p:nvSpPr>
            <p:cNvPr id="10" name="TextBox 10"/>
            <p:cNvSpPr txBox="1"/>
            <p:nvPr/>
          </p:nvSpPr>
          <p:spPr>
            <a:xfrm>
              <a:off x="0" y="-57150"/>
              <a:ext cx="1553952" cy="54808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7152845" y="2647375"/>
            <a:ext cx="3669577" cy="450619"/>
          </a:xfrm>
          <a:prstGeom prst="rect">
            <a:avLst/>
          </a:prstGeom>
        </p:spPr>
        <p:txBody>
          <a:bodyPr lIns="0" tIns="0" rIns="0" bIns="0" rtlCol="0" anchor="t">
            <a:spAutoFit/>
          </a:bodyPr>
          <a:lstStyle/>
          <a:p>
            <a:pPr algn="ctr">
              <a:lnSpc>
                <a:spcPts val="3512"/>
              </a:lnSpc>
            </a:pPr>
            <a:r>
              <a:rPr lang="en-US" sz="2509">
                <a:solidFill>
                  <a:srgbClr val="0A152F"/>
                </a:solidFill>
                <a:latin typeface="Poppins"/>
                <a:ea typeface="Poppins"/>
                <a:cs typeface="Poppins"/>
                <a:sym typeface="Poppins"/>
              </a:rPr>
              <a:t>Project Background</a:t>
            </a:r>
          </a:p>
        </p:txBody>
      </p:sp>
      <p:grpSp>
        <p:nvGrpSpPr>
          <p:cNvPr id="12" name="Group 12"/>
          <p:cNvGrpSpPr/>
          <p:nvPr/>
        </p:nvGrpSpPr>
        <p:grpSpPr>
          <a:xfrm>
            <a:off x="12143149" y="2273623"/>
            <a:ext cx="4803418" cy="1517529"/>
            <a:chOff x="0" y="0"/>
            <a:chExt cx="1553952" cy="490935"/>
          </a:xfrm>
        </p:grpSpPr>
        <p:sp>
          <p:nvSpPr>
            <p:cNvPr id="13" name="Freeform 13"/>
            <p:cNvSpPr/>
            <p:nvPr/>
          </p:nvSpPr>
          <p:spPr>
            <a:xfrm>
              <a:off x="0" y="0"/>
              <a:ext cx="1553952" cy="490935"/>
            </a:xfrm>
            <a:custGeom>
              <a:avLst/>
              <a:gdLst/>
              <a:ahLst/>
              <a:cxnLst/>
              <a:rect l="l" t="t" r="r" b="b"/>
              <a:pathLst>
                <a:path w="1553952" h="490935">
                  <a:moveTo>
                    <a:pt x="82199" y="0"/>
                  </a:moveTo>
                  <a:lnTo>
                    <a:pt x="1471752" y="0"/>
                  </a:lnTo>
                  <a:cubicBezTo>
                    <a:pt x="1517150" y="0"/>
                    <a:pt x="1553952" y="36802"/>
                    <a:pt x="1553952" y="82199"/>
                  </a:cubicBezTo>
                  <a:lnTo>
                    <a:pt x="1553952" y="408736"/>
                  </a:lnTo>
                  <a:cubicBezTo>
                    <a:pt x="1553952" y="454133"/>
                    <a:pt x="1517150" y="490935"/>
                    <a:pt x="1471752" y="490935"/>
                  </a:cubicBezTo>
                  <a:lnTo>
                    <a:pt x="82199" y="490935"/>
                  </a:lnTo>
                  <a:cubicBezTo>
                    <a:pt x="36802" y="490935"/>
                    <a:pt x="0" y="454133"/>
                    <a:pt x="0" y="408736"/>
                  </a:cubicBezTo>
                  <a:lnTo>
                    <a:pt x="0" y="82199"/>
                  </a:lnTo>
                  <a:cubicBezTo>
                    <a:pt x="0" y="36802"/>
                    <a:pt x="36802" y="0"/>
                    <a:pt x="82199" y="0"/>
                  </a:cubicBezTo>
                  <a:close/>
                </a:path>
              </a:pathLst>
            </a:custGeom>
            <a:solidFill>
              <a:srgbClr val="FFFFFF">
                <a:alpha val="74902"/>
              </a:srgbClr>
            </a:solidFill>
          </p:spPr>
        </p:sp>
        <p:sp>
          <p:nvSpPr>
            <p:cNvPr id="14" name="TextBox 14"/>
            <p:cNvSpPr txBox="1"/>
            <p:nvPr/>
          </p:nvSpPr>
          <p:spPr>
            <a:xfrm>
              <a:off x="0" y="-57150"/>
              <a:ext cx="1553952" cy="548085"/>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12413816" y="2516479"/>
            <a:ext cx="4199384" cy="1326919"/>
          </a:xfrm>
          <a:prstGeom prst="rect">
            <a:avLst/>
          </a:prstGeom>
        </p:spPr>
        <p:txBody>
          <a:bodyPr lIns="0" tIns="0" rIns="0" bIns="0" rtlCol="0" anchor="t">
            <a:spAutoFit/>
          </a:bodyPr>
          <a:lstStyle/>
          <a:p>
            <a:pPr algn="ctr">
              <a:lnSpc>
                <a:spcPts val="3512"/>
              </a:lnSpc>
            </a:pPr>
            <a:r>
              <a:rPr lang="en-US" sz="2509">
                <a:solidFill>
                  <a:srgbClr val="0A152F"/>
                </a:solidFill>
                <a:latin typeface="Poppins"/>
                <a:ea typeface="Poppins"/>
                <a:cs typeface="Poppins"/>
                <a:sym typeface="Poppins"/>
              </a:rPr>
              <a:t>proposed system and objective</a:t>
            </a:r>
          </a:p>
          <a:p>
            <a:pPr algn="ctr">
              <a:lnSpc>
                <a:spcPts val="3512"/>
              </a:lnSpc>
            </a:pPr>
            <a:endParaRPr lang="en-US" sz="2509">
              <a:solidFill>
                <a:srgbClr val="0A152F"/>
              </a:solidFill>
              <a:latin typeface="Poppins"/>
              <a:ea typeface="Poppins"/>
              <a:cs typeface="Poppins"/>
              <a:sym typeface="Poppins"/>
            </a:endParaRPr>
          </a:p>
        </p:txBody>
      </p:sp>
      <p:grpSp>
        <p:nvGrpSpPr>
          <p:cNvPr id="16" name="Group 16"/>
          <p:cNvGrpSpPr/>
          <p:nvPr/>
        </p:nvGrpSpPr>
        <p:grpSpPr>
          <a:xfrm>
            <a:off x="1028700" y="4384735"/>
            <a:ext cx="4803418" cy="1517529"/>
            <a:chOff x="0" y="0"/>
            <a:chExt cx="1553952" cy="490935"/>
          </a:xfrm>
        </p:grpSpPr>
        <p:sp>
          <p:nvSpPr>
            <p:cNvPr id="17" name="Freeform 17"/>
            <p:cNvSpPr/>
            <p:nvPr/>
          </p:nvSpPr>
          <p:spPr>
            <a:xfrm>
              <a:off x="0" y="0"/>
              <a:ext cx="1553952" cy="490935"/>
            </a:xfrm>
            <a:custGeom>
              <a:avLst/>
              <a:gdLst/>
              <a:ahLst/>
              <a:cxnLst/>
              <a:rect l="l" t="t" r="r" b="b"/>
              <a:pathLst>
                <a:path w="1553952" h="490935">
                  <a:moveTo>
                    <a:pt x="82199" y="0"/>
                  </a:moveTo>
                  <a:lnTo>
                    <a:pt x="1471752" y="0"/>
                  </a:lnTo>
                  <a:cubicBezTo>
                    <a:pt x="1517150" y="0"/>
                    <a:pt x="1553952" y="36802"/>
                    <a:pt x="1553952" y="82199"/>
                  </a:cubicBezTo>
                  <a:lnTo>
                    <a:pt x="1553952" y="408736"/>
                  </a:lnTo>
                  <a:cubicBezTo>
                    <a:pt x="1553952" y="454133"/>
                    <a:pt x="1517150" y="490935"/>
                    <a:pt x="1471752" y="490935"/>
                  </a:cubicBezTo>
                  <a:lnTo>
                    <a:pt x="82199" y="490935"/>
                  </a:lnTo>
                  <a:cubicBezTo>
                    <a:pt x="36802" y="490935"/>
                    <a:pt x="0" y="454133"/>
                    <a:pt x="0" y="408736"/>
                  </a:cubicBezTo>
                  <a:lnTo>
                    <a:pt x="0" y="82199"/>
                  </a:lnTo>
                  <a:cubicBezTo>
                    <a:pt x="0" y="36802"/>
                    <a:pt x="36802" y="0"/>
                    <a:pt x="82199" y="0"/>
                  </a:cubicBezTo>
                  <a:close/>
                </a:path>
              </a:pathLst>
            </a:custGeom>
            <a:solidFill>
              <a:srgbClr val="FFFFFF">
                <a:alpha val="74902"/>
              </a:srgbClr>
            </a:solidFill>
          </p:spPr>
        </p:sp>
        <p:sp>
          <p:nvSpPr>
            <p:cNvPr id="18" name="TextBox 18"/>
            <p:cNvSpPr txBox="1"/>
            <p:nvPr/>
          </p:nvSpPr>
          <p:spPr>
            <a:xfrm>
              <a:off x="0" y="-57150"/>
              <a:ext cx="1553952" cy="548085"/>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9"/>
          <p:cNvSpPr txBox="1"/>
          <p:nvPr/>
        </p:nvSpPr>
        <p:spPr>
          <a:xfrm>
            <a:off x="1987087" y="4880090"/>
            <a:ext cx="2714219" cy="450619"/>
          </a:xfrm>
          <a:prstGeom prst="rect">
            <a:avLst/>
          </a:prstGeom>
        </p:spPr>
        <p:txBody>
          <a:bodyPr lIns="0" tIns="0" rIns="0" bIns="0" rtlCol="0" anchor="t">
            <a:spAutoFit/>
          </a:bodyPr>
          <a:lstStyle/>
          <a:p>
            <a:pPr algn="ctr">
              <a:lnSpc>
                <a:spcPts val="3512"/>
              </a:lnSpc>
            </a:pPr>
            <a:r>
              <a:rPr lang="en-US" sz="2509">
                <a:solidFill>
                  <a:srgbClr val="0A152F"/>
                </a:solidFill>
                <a:latin typeface="Poppins"/>
                <a:ea typeface="Poppins"/>
                <a:cs typeface="Poppins"/>
                <a:sym typeface="Poppins"/>
              </a:rPr>
              <a:t>Demo</a:t>
            </a:r>
          </a:p>
        </p:txBody>
      </p:sp>
      <p:grpSp>
        <p:nvGrpSpPr>
          <p:cNvPr id="20" name="Group 20"/>
          <p:cNvGrpSpPr/>
          <p:nvPr/>
        </p:nvGrpSpPr>
        <p:grpSpPr>
          <a:xfrm>
            <a:off x="6742291" y="4324552"/>
            <a:ext cx="4803418" cy="1517529"/>
            <a:chOff x="0" y="0"/>
            <a:chExt cx="1553952" cy="490935"/>
          </a:xfrm>
        </p:grpSpPr>
        <p:sp>
          <p:nvSpPr>
            <p:cNvPr id="21" name="Freeform 21"/>
            <p:cNvSpPr/>
            <p:nvPr/>
          </p:nvSpPr>
          <p:spPr>
            <a:xfrm>
              <a:off x="0" y="0"/>
              <a:ext cx="1553952" cy="490935"/>
            </a:xfrm>
            <a:custGeom>
              <a:avLst/>
              <a:gdLst/>
              <a:ahLst/>
              <a:cxnLst/>
              <a:rect l="l" t="t" r="r" b="b"/>
              <a:pathLst>
                <a:path w="1553952" h="490935">
                  <a:moveTo>
                    <a:pt x="82199" y="0"/>
                  </a:moveTo>
                  <a:lnTo>
                    <a:pt x="1471752" y="0"/>
                  </a:lnTo>
                  <a:cubicBezTo>
                    <a:pt x="1517150" y="0"/>
                    <a:pt x="1553952" y="36802"/>
                    <a:pt x="1553952" y="82199"/>
                  </a:cubicBezTo>
                  <a:lnTo>
                    <a:pt x="1553952" y="408736"/>
                  </a:lnTo>
                  <a:cubicBezTo>
                    <a:pt x="1553952" y="454133"/>
                    <a:pt x="1517150" y="490935"/>
                    <a:pt x="1471752" y="490935"/>
                  </a:cubicBezTo>
                  <a:lnTo>
                    <a:pt x="82199" y="490935"/>
                  </a:lnTo>
                  <a:cubicBezTo>
                    <a:pt x="36802" y="490935"/>
                    <a:pt x="0" y="454133"/>
                    <a:pt x="0" y="408736"/>
                  </a:cubicBezTo>
                  <a:lnTo>
                    <a:pt x="0" y="82199"/>
                  </a:lnTo>
                  <a:cubicBezTo>
                    <a:pt x="0" y="36802"/>
                    <a:pt x="36802" y="0"/>
                    <a:pt x="82199" y="0"/>
                  </a:cubicBezTo>
                  <a:close/>
                </a:path>
              </a:pathLst>
            </a:custGeom>
            <a:solidFill>
              <a:srgbClr val="FFFFFF">
                <a:alpha val="74902"/>
              </a:srgbClr>
            </a:solidFill>
          </p:spPr>
        </p:sp>
        <p:sp>
          <p:nvSpPr>
            <p:cNvPr id="22" name="TextBox 22"/>
            <p:cNvSpPr txBox="1"/>
            <p:nvPr/>
          </p:nvSpPr>
          <p:spPr>
            <a:xfrm>
              <a:off x="0" y="-57150"/>
              <a:ext cx="1553952" cy="548085"/>
            </a:xfrm>
            <a:prstGeom prst="rect">
              <a:avLst/>
            </a:prstGeom>
          </p:spPr>
          <p:txBody>
            <a:bodyPr lIns="50800" tIns="50800" rIns="50800" bIns="50800" rtlCol="0" anchor="ctr"/>
            <a:lstStyle/>
            <a:p>
              <a:pPr algn="ctr">
                <a:lnSpc>
                  <a:spcPts val="2659"/>
                </a:lnSpc>
                <a:spcBef>
                  <a:spcPct val="0"/>
                </a:spcBef>
              </a:pPr>
              <a:endParaRPr/>
            </a:p>
          </p:txBody>
        </p:sp>
      </p:grpSp>
      <p:sp>
        <p:nvSpPr>
          <p:cNvPr id="23" name="TextBox 23"/>
          <p:cNvSpPr txBox="1"/>
          <p:nvPr/>
        </p:nvSpPr>
        <p:spPr>
          <a:xfrm>
            <a:off x="7309211" y="4819908"/>
            <a:ext cx="3669577" cy="450619"/>
          </a:xfrm>
          <a:prstGeom prst="rect">
            <a:avLst/>
          </a:prstGeom>
        </p:spPr>
        <p:txBody>
          <a:bodyPr lIns="0" tIns="0" rIns="0" bIns="0" rtlCol="0" anchor="t">
            <a:spAutoFit/>
          </a:bodyPr>
          <a:lstStyle/>
          <a:p>
            <a:pPr algn="ctr">
              <a:lnSpc>
                <a:spcPts val="3512"/>
              </a:lnSpc>
            </a:pPr>
            <a:r>
              <a:rPr lang="en-US" sz="2509">
                <a:solidFill>
                  <a:srgbClr val="0A152F"/>
                </a:solidFill>
                <a:latin typeface="Poppins"/>
                <a:ea typeface="Poppins"/>
                <a:cs typeface="Poppins"/>
                <a:sym typeface="Poppins"/>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grpSp>
        <p:nvGrpSpPr>
          <p:cNvPr id="3" name="Group 3"/>
          <p:cNvGrpSpPr/>
          <p:nvPr/>
        </p:nvGrpSpPr>
        <p:grpSpPr>
          <a:xfrm>
            <a:off x="1634679" y="1442420"/>
            <a:ext cx="15018641" cy="7402160"/>
            <a:chOff x="0" y="0"/>
            <a:chExt cx="3955527" cy="1949540"/>
          </a:xfrm>
        </p:grpSpPr>
        <p:sp>
          <p:nvSpPr>
            <p:cNvPr id="4" name="Freeform 4"/>
            <p:cNvSpPr/>
            <p:nvPr/>
          </p:nvSpPr>
          <p:spPr>
            <a:xfrm>
              <a:off x="0" y="0"/>
              <a:ext cx="3955527" cy="1949540"/>
            </a:xfrm>
            <a:custGeom>
              <a:avLst/>
              <a:gdLst/>
              <a:ahLst/>
              <a:cxnLst/>
              <a:rect l="l" t="t" r="r" b="b"/>
              <a:pathLst>
                <a:path w="3955527" h="1949540">
                  <a:moveTo>
                    <a:pt x="26290" y="0"/>
                  </a:moveTo>
                  <a:lnTo>
                    <a:pt x="3929237" y="0"/>
                  </a:lnTo>
                  <a:cubicBezTo>
                    <a:pt x="3943757" y="0"/>
                    <a:pt x="3955527" y="11770"/>
                    <a:pt x="3955527" y="26290"/>
                  </a:cubicBezTo>
                  <a:lnTo>
                    <a:pt x="3955527" y="1923250"/>
                  </a:lnTo>
                  <a:cubicBezTo>
                    <a:pt x="3955527" y="1937770"/>
                    <a:pt x="3943757" y="1949540"/>
                    <a:pt x="3929237" y="1949540"/>
                  </a:cubicBezTo>
                  <a:lnTo>
                    <a:pt x="26290" y="1949540"/>
                  </a:lnTo>
                  <a:cubicBezTo>
                    <a:pt x="11770" y="1949540"/>
                    <a:pt x="0" y="1937770"/>
                    <a:pt x="0" y="1923250"/>
                  </a:cubicBezTo>
                  <a:lnTo>
                    <a:pt x="0" y="26290"/>
                  </a:lnTo>
                  <a:cubicBezTo>
                    <a:pt x="0" y="11770"/>
                    <a:pt x="11770" y="0"/>
                    <a:pt x="26290" y="0"/>
                  </a:cubicBezTo>
                  <a:close/>
                </a:path>
              </a:pathLst>
            </a:custGeom>
            <a:solidFill>
              <a:srgbClr val="FFFFFF">
                <a:alpha val="74902"/>
              </a:srgbClr>
            </a:solidFill>
          </p:spPr>
        </p:sp>
        <p:sp>
          <p:nvSpPr>
            <p:cNvPr id="5" name="TextBox 5"/>
            <p:cNvSpPr txBox="1"/>
            <p:nvPr/>
          </p:nvSpPr>
          <p:spPr>
            <a:xfrm>
              <a:off x="0" y="-57150"/>
              <a:ext cx="3955527" cy="200669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5070972" y="1590498"/>
            <a:ext cx="8146056" cy="1311686"/>
          </a:xfrm>
          <a:prstGeom prst="rect">
            <a:avLst/>
          </a:prstGeom>
        </p:spPr>
        <p:txBody>
          <a:bodyPr lIns="0" tIns="0" rIns="0" bIns="0" rtlCol="0" anchor="t">
            <a:spAutoFit/>
          </a:bodyPr>
          <a:lstStyle/>
          <a:p>
            <a:pPr algn="ctr">
              <a:lnSpc>
                <a:spcPts val="10127"/>
              </a:lnSpc>
            </a:pPr>
            <a:r>
              <a:rPr lang="en-US" sz="7233" b="1">
                <a:solidFill>
                  <a:srgbClr val="0A152F"/>
                </a:solidFill>
                <a:latin typeface="Poppins Bold"/>
                <a:ea typeface="Poppins Bold"/>
                <a:cs typeface="Poppins Bold"/>
                <a:sym typeface="Poppins Bold"/>
              </a:rPr>
              <a:t>INTRODUCTION</a:t>
            </a:r>
          </a:p>
        </p:txBody>
      </p:sp>
      <p:sp>
        <p:nvSpPr>
          <p:cNvPr id="7" name="TextBox 7"/>
          <p:cNvSpPr txBox="1"/>
          <p:nvPr/>
        </p:nvSpPr>
        <p:spPr>
          <a:xfrm>
            <a:off x="3080611" y="3501910"/>
            <a:ext cx="12126778" cy="2670539"/>
          </a:xfrm>
          <a:prstGeom prst="rect">
            <a:avLst/>
          </a:prstGeom>
        </p:spPr>
        <p:txBody>
          <a:bodyPr lIns="0" tIns="0" rIns="0" bIns="0" rtlCol="0" anchor="t">
            <a:spAutoFit/>
          </a:bodyPr>
          <a:lstStyle/>
          <a:p>
            <a:pPr algn="ctr">
              <a:lnSpc>
                <a:spcPts val="3499"/>
              </a:lnSpc>
              <a:spcBef>
                <a:spcPct val="0"/>
              </a:spcBef>
            </a:pPr>
            <a:r>
              <a:rPr lang="en-US" sz="2499" dirty="0">
                <a:solidFill>
                  <a:srgbClr val="0A152F"/>
                </a:solidFill>
                <a:latin typeface="Poppins"/>
                <a:ea typeface="Poppins"/>
                <a:cs typeface="Poppins"/>
                <a:sym typeface="Poppins"/>
              </a:rPr>
              <a:t>Fruit prices are an important part of daily life because they affect both consumers and sellers in the market, and prices can vary depending on the type of fruit, its form (fresh, canned, or juice), and other factors such as yield and equivalent cup size. The aim is to explore the data, understand which factors influence fruit prices, and build a simple predictive model.</a:t>
            </a:r>
          </a:p>
          <a:p>
            <a:pPr algn="ctr">
              <a:lnSpc>
                <a:spcPts val="3499"/>
              </a:lnSpc>
              <a:spcBef>
                <a:spcPct val="0"/>
              </a:spcBef>
            </a:pPr>
            <a:endParaRPr lang="en-US" sz="2499" dirty="0">
              <a:solidFill>
                <a:srgbClr val="0A152F"/>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grpSp>
        <p:nvGrpSpPr>
          <p:cNvPr id="3" name="Group 3"/>
          <p:cNvGrpSpPr/>
          <p:nvPr/>
        </p:nvGrpSpPr>
        <p:grpSpPr>
          <a:xfrm>
            <a:off x="1719983" y="1652653"/>
            <a:ext cx="14862783" cy="7279297"/>
            <a:chOff x="0" y="0"/>
            <a:chExt cx="4808252" cy="2354922"/>
          </a:xfrm>
        </p:grpSpPr>
        <p:sp>
          <p:nvSpPr>
            <p:cNvPr id="4" name="Freeform 4"/>
            <p:cNvSpPr/>
            <p:nvPr/>
          </p:nvSpPr>
          <p:spPr>
            <a:xfrm>
              <a:off x="0" y="0"/>
              <a:ext cx="4808252" cy="2354922"/>
            </a:xfrm>
            <a:custGeom>
              <a:avLst/>
              <a:gdLst/>
              <a:ahLst/>
              <a:cxnLst/>
              <a:rect l="l" t="t" r="r" b="b"/>
              <a:pathLst>
                <a:path w="4808252" h="2354922">
                  <a:moveTo>
                    <a:pt x="26566" y="0"/>
                  </a:moveTo>
                  <a:lnTo>
                    <a:pt x="4781687" y="0"/>
                  </a:lnTo>
                  <a:cubicBezTo>
                    <a:pt x="4788733" y="0"/>
                    <a:pt x="4795489" y="2799"/>
                    <a:pt x="4800471" y="7781"/>
                  </a:cubicBezTo>
                  <a:cubicBezTo>
                    <a:pt x="4805454" y="12763"/>
                    <a:pt x="4808252" y="19520"/>
                    <a:pt x="4808252" y="26566"/>
                  </a:cubicBezTo>
                  <a:lnTo>
                    <a:pt x="4808252" y="2328357"/>
                  </a:lnTo>
                  <a:cubicBezTo>
                    <a:pt x="4808252" y="2335402"/>
                    <a:pt x="4805454" y="2342159"/>
                    <a:pt x="4800471" y="2347141"/>
                  </a:cubicBezTo>
                  <a:cubicBezTo>
                    <a:pt x="4795489" y="2352123"/>
                    <a:pt x="4788733" y="2354922"/>
                    <a:pt x="4781687" y="2354922"/>
                  </a:cubicBezTo>
                  <a:lnTo>
                    <a:pt x="26566" y="2354922"/>
                  </a:lnTo>
                  <a:cubicBezTo>
                    <a:pt x="19520" y="2354922"/>
                    <a:pt x="12763" y="2352123"/>
                    <a:pt x="7781" y="2347141"/>
                  </a:cubicBezTo>
                  <a:cubicBezTo>
                    <a:pt x="2799" y="2342159"/>
                    <a:pt x="0" y="2335402"/>
                    <a:pt x="0" y="2328357"/>
                  </a:cubicBezTo>
                  <a:lnTo>
                    <a:pt x="0" y="26566"/>
                  </a:lnTo>
                  <a:cubicBezTo>
                    <a:pt x="0" y="19520"/>
                    <a:pt x="2799" y="12763"/>
                    <a:pt x="7781" y="7781"/>
                  </a:cubicBezTo>
                  <a:cubicBezTo>
                    <a:pt x="12763" y="2799"/>
                    <a:pt x="19520" y="0"/>
                    <a:pt x="26566" y="0"/>
                  </a:cubicBezTo>
                  <a:close/>
                </a:path>
              </a:pathLst>
            </a:custGeom>
            <a:solidFill>
              <a:srgbClr val="FFFFFF">
                <a:alpha val="74902"/>
              </a:srgbClr>
            </a:solidFill>
          </p:spPr>
        </p:sp>
        <p:sp>
          <p:nvSpPr>
            <p:cNvPr id="5" name="TextBox 5"/>
            <p:cNvSpPr txBox="1"/>
            <p:nvPr/>
          </p:nvSpPr>
          <p:spPr>
            <a:xfrm>
              <a:off x="0" y="-57150"/>
              <a:ext cx="4808252" cy="241207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712609" y="1652653"/>
            <a:ext cx="14759037" cy="2179118"/>
          </a:xfrm>
          <a:prstGeom prst="rect">
            <a:avLst/>
          </a:prstGeom>
        </p:spPr>
        <p:txBody>
          <a:bodyPr lIns="0" tIns="0" rIns="0" bIns="0" rtlCol="0" anchor="t">
            <a:spAutoFit/>
          </a:bodyPr>
          <a:lstStyle/>
          <a:p>
            <a:pPr algn="ctr">
              <a:lnSpc>
                <a:spcPts val="8516"/>
              </a:lnSpc>
            </a:pPr>
            <a:r>
              <a:rPr lang="en-US" sz="6082" b="1">
                <a:solidFill>
                  <a:srgbClr val="0A152F"/>
                </a:solidFill>
                <a:latin typeface="Poppins Bold"/>
                <a:ea typeface="Poppins Bold"/>
                <a:cs typeface="Poppins Bold"/>
                <a:sym typeface="Poppins Bold"/>
              </a:rPr>
              <a:t>PROPOSED SYSTEM AND OBJECTIVE</a:t>
            </a:r>
          </a:p>
          <a:p>
            <a:pPr algn="ctr">
              <a:lnSpc>
                <a:spcPts val="8516"/>
              </a:lnSpc>
            </a:pPr>
            <a:endParaRPr lang="en-US" sz="6082" b="1">
              <a:solidFill>
                <a:srgbClr val="0A152F"/>
              </a:solidFill>
              <a:latin typeface="Poppins Bold"/>
              <a:ea typeface="Poppins Bold"/>
              <a:cs typeface="Poppins Bold"/>
              <a:sym typeface="Poppins Bold"/>
            </a:endParaRPr>
          </a:p>
        </p:txBody>
      </p:sp>
      <p:sp>
        <p:nvSpPr>
          <p:cNvPr id="7" name="TextBox 7"/>
          <p:cNvSpPr txBox="1"/>
          <p:nvPr/>
        </p:nvSpPr>
        <p:spPr>
          <a:xfrm>
            <a:off x="3080611" y="3989992"/>
            <a:ext cx="12126778" cy="2670539"/>
          </a:xfrm>
          <a:prstGeom prst="rect">
            <a:avLst/>
          </a:prstGeom>
        </p:spPr>
        <p:txBody>
          <a:bodyPr lIns="0" tIns="0" rIns="0" bIns="0" rtlCol="0" anchor="t">
            <a:spAutoFit/>
          </a:bodyPr>
          <a:lstStyle/>
          <a:p>
            <a:pPr algn="ctr">
              <a:lnSpc>
                <a:spcPts val="3499"/>
              </a:lnSpc>
              <a:spcBef>
                <a:spcPct val="0"/>
              </a:spcBef>
            </a:pPr>
            <a:r>
              <a:rPr lang="en-US" sz="2499" dirty="0">
                <a:solidFill>
                  <a:srgbClr val="0A152F"/>
                </a:solidFill>
                <a:latin typeface="Poppins"/>
                <a:ea typeface="Poppins"/>
                <a:cs typeface="Poppins"/>
                <a:sym typeface="Poppins"/>
              </a:rPr>
              <a:t>The proposed system uses a dataset of fruit prices that includes details such as fruit type, form, retail price, yield, and equivalent cup price. The system applies basic machine learning methods, such as multiple linear regression, to analyze the data and predict fruit prices. </a:t>
            </a:r>
          </a:p>
          <a:p>
            <a:pPr algn="ctr">
              <a:lnSpc>
                <a:spcPts val="3499"/>
              </a:lnSpc>
              <a:spcBef>
                <a:spcPct val="0"/>
              </a:spcBef>
            </a:pPr>
            <a:endParaRPr lang="en-US" sz="2499" dirty="0">
              <a:solidFill>
                <a:srgbClr val="0A152F"/>
              </a:solidFill>
              <a:latin typeface="Poppins"/>
              <a:ea typeface="Poppins"/>
              <a:cs typeface="Poppins"/>
              <a:sym typeface="Poppins"/>
            </a:endParaRPr>
          </a:p>
          <a:p>
            <a:pPr algn="ctr">
              <a:lnSpc>
                <a:spcPts val="3499"/>
              </a:lnSpc>
              <a:spcBef>
                <a:spcPct val="0"/>
              </a:spcBef>
            </a:pPr>
            <a:endParaRPr lang="en-US" sz="2499" dirty="0">
              <a:solidFill>
                <a:srgbClr val="0A152F"/>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grpSp>
        <p:nvGrpSpPr>
          <p:cNvPr id="3" name="Group 3"/>
          <p:cNvGrpSpPr/>
          <p:nvPr/>
        </p:nvGrpSpPr>
        <p:grpSpPr>
          <a:xfrm>
            <a:off x="1712609" y="1503851"/>
            <a:ext cx="14862783" cy="7279297"/>
            <a:chOff x="0" y="0"/>
            <a:chExt cx="4808252" cy="2354922"/>
          </a:xfrm>
        </p:grpSpPr>
        <p:sp>
          <p:nvSpPr>
            <p:cNvPr id="4" name="Freeform 4"/>
            <p:cNvSpPr/>
            <p:nvPr/>
          </p:nvSpPr>
          <p:spPr>
            <a:xfrm>
              <a:off x="0" y="0"/>
              <a:ext cx="4808252" cy="2354922"/>
            </a:xfrm>
            <a:custGeom>
              <a:avLst/>
              <a:gdLst/>
              <a:ahLst/>
              <a:cxnLst/>
              <a:rect l="l" t="t" r="r" b="b"/>
              <a:pathLst>
                <a:path w="4808252" h="2354922">
                  <a:moveTo>
                    <a:pt x="26566" y="0"/>
                  </a:moveTo>
                  <a:lnTo>
                    <a:pt x="4781687" y="0"/>
                  </a:lnTo>
                  <a:cubicBezTo>
                    <a:pt x="4788733" y="0"/>
                    <a:pt x="4795489" y="2799"/>
                    <a:pt x="4800471" y="7781"/>
                  </a:cubicBezTo>
                  <a:cubicBezTo>
                    <a:pt x="4805454" y="12763"/>
                    <a:pt x="4808252" y="19520"/>
                    <a:pt x="4808252" y="26566"/>
                  </a:cubicBezTo>
                  <a:lnTo>
                    <a:pt x="4808252" y="2328357"/>
                  </a:lnTo>
                  <a:cubicBezTo>
                    <a:pt x="4808252" y="2335402"/>
                    <a:pt x="4805454" y="2342159"/>
                    <a:pt x="4800471" y="2347141"/>
                  </a:cubicBezTo>
                  <a:cubicBezTo>
                    <a:pt x="4795489" y="2352123"/>
                    <a:pt x="4788733" y="2354922"/>
                    <a:pt x="4781687" y="2354922"/>
                  </a:cubicBezTo>
                  <a:lnTo>
                    <a:pt x="26566" y="2354922"/>
                  </a:lnTo>
                  <a:cubicBezTo>
                    <a:pt x="19520" y="2354922"/>
                    <a:pt x="12763" y="2352123"/>
                    <a:pt x="7781" y="2347141"/>
                  </a:cubicBezTo>
                  <a:cubicBezTo>
                    <a:pt x="2799" y="2342159"/>
                    <a:pt x="0" y="2335402"/>
                    <a:pt x="0" y="2328357"/>
                  </a:cubicBezTo>
                  <a:lnTo>
                    <a:pt x="0" y="26566"/>
                  </a:lnTo>
                  <a:cubicBezTo>
                    <a:pt x="0" y="19520"/>
                    <a:pt x="2799" y="12763"/>
                    <a:pt x="7781" y="7781"/>
                  </a:cubicBezTo>
                  <a:cubicBezTo>
                    <a:pt x="12763" y="2799"/>
                    <a:pt x="19520" y="0"/>
                    <a:pt x="26566" y="0"/>
                  </a:cubicBezTo>
                  <a:close/>
                </a:path>
              </a:pathLst>
            </a:custGeom>
            <a:solidFill>
              <a:srgbClr val="FFFFFF">
                <a:alpha val="74902"/>
              </a:srgbClr>
            </a:solidFill>
          </p:spPr>
        </p:sp>
        <p:sp>
          <p:nvSpPr>
            <p:cNvPr id="5" name="TextBox 5"/>
            <p:cNvSpPr txBox="1"/>
            <p:nvPr/>
          </p:nvSpPr>
          <p:spPr>
            <a:xfrm>
              <a:off x="0" y="-57150"/>
              <a:ext cx="4808252" cy="241207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816354" y="4090163"/>
            <a:ext cx="14759037" cy="2418514"/>
          </a:xfrm>
          <a:prstGeom prst="rect">
            <a:avLst/>
          </a:prstGeom>
        </p:spPr>
        <p:txBody>
          <a:bodyPr lIns="0" tIns="0" rIns="0" bIns="0" rtlCol="0" anchor="t">
            <a:spAutoFit/>
          </a:bodyPr>
          <a:lstStyle/>
          <a:p>
            <a:pPr algn="ctr">
              <a:lnSpc>
                <a:spcPts val="9496"/>
              </a:lnSpc>
            </a:pPr>
            <a:r>
              <a:rPr lang="en-US" sz="6782" b="1">
                <a:solidFill>
                  <a:srgbClr val="0A152F"/>
                </a:solidFill>
                <a:latin typeface="Poppins Bold"/>
                <a:ea typeface="Poppins Bold"/>
                <a:cs typeface="Poppins Bold"/>
                <a:sym typeface="Poppins Bold"/>
              </a:rPr>
              <a:t>DEMO</a:t>
            </a:r>
          </a:p>
          <a:p>
            <a:pPr algn="ctr">
              <a:lnSpc>
                <a:spcPts val="9496"/>
              </a:lnSpc>
            </a:pPr>
            <a:endParaRPr lang="en-US" sz="6782" b="1">
              <a:solidFill>
                <a:srgbClr val="0A152F"/>
              </a:solidFill>
              <a:latin typeface="Poppins Bold"/>
              <a:ea typeface="Poppins Bold"/>
              <a:cs typeface="Poppins Bold"/>
              <a:sym typeface="Poppins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grpSp>
        <p:nvGrpSpPr>
          <p:cNvPr id="3" name="Group 3"/>
          <p:cNvGrpSpPr/>
          <p:nvPr/>
        </p:nvGrpSpPr>
        <p:grpSpPr>
          <a:xfrm>
            <a:off x="2470068" y="1809736"/>
            <a:ext cx="13347864" cy="6667528"/>
            <a:chOff x="0" y="0"/>
            <a:chExt cx="3515487" cy="1756057"/>
          </a:xfrm>
        </p:grpSpPr>
        <p:sp>
          <p:nvSpPr>
            <p:cNvPr id="4" name="Freeform 4"/>
            <p:cNvSpPr/>
            <p:nvPr/>
          </p:nvSpPr>
          <p:spPr>
            <a:xfrm>
              <a:off x="0" y="0"/>
              <a:ext cx="3515487" cy="1756057"/>
            </a:xfrm>
            <a:custGeom>
              <a:avLst/>
              <a:gdLst/>
              <a:ahLst/>
              <a:cxnLst/>
              <a:rect l="l" t="t" r="r" b="b"/>
              <a:pathLst>
                <a:path w="3515487" h="1756057">
                  <a:moveTo>
                    <a:pt x="29581" y="0"/>
                  </a:moveTo>
                  <a:lnTo>
                    <a:pt x="3485906" y="0"/>
                  </a:lnTo>
                  <a:cubicBezTo>
                    <a:pt x="3502243" y="0"/>
                    <a:pt x="3515487" y="13244"/>
                    <a:pt x="3515487" y="29581"/>
                  </a:cubicBezTo>
                  <a:lnTo>
                    <a:pt x="3515487" y="1726476"/>
                  </a:lnTo>
                  <a:cubicBezTo>
                    <a:pt x="3515487" y="1734321"/>
                    <a:pt x="3512370" y="1741845"/>
                    <a:pt x="3506823" y="1747393"/>
                  </a:cubicBezTo>
                  <a:cubicBezTo>
                    <a:pt x="3501275" y="1752940"/>
                    <a:pt x="3493751" y="1756057"/>
                    <a:pt x="3485906" y="1756057"/>
                  </a:cubicBezTo>
                  <a:lnTo>
                    <a:pt x="29581" y="1756057"/>
                  </a:lnTo>
                  <a:cubicBezTo>
                    <a:pt x="21735" y="1756057"/>
                    <a:pt x="14211" y="1752940"/>
                    <a:pt x="8664" y="1747393"/>
                  </a:cubicBezTo>
                  <a:cubicBezTo>
                    <a:pt x="3117" y="1741845"/>
                    <a:pt x="0" y="1734321"/>
                    <a:pt x="0" y="1726476"/>
                  </a:cubicBezTo>
                  <a:lnTo>
                    <a:pt x="0" y="29581"/>
                  </a:lnTo>
                  <a:cubicBezTo>
                    <a:pt x="0" y="13244"/>
                    <a:pt x="13244" y="0"/>
                    <a:pt x="29581" y="0"/>
                  </a:cubicBezTo>
                  <a:close/>
                </a:path>
              </a:pathLst>
            </a:custGeom>
            <a:solidFill>
              <a:srgbClr val="FFFFFF">
                <a:alpha val="74902"/>
              </a:srgbClr>
            </a:solidFill>
          </p:spPr>
        </p:sp>
        <p:sp>
          <p:nvSpPr>
            <p:cNvPr id="5" name="TextBox 5"/>
            <p:cNvSpPr txBox="1"/>
            <p:nvPr/>
          </p:nvSpPr>
          <p:spPr>
            <a:xfrm>
              <a:off x="0" y="-57150"/>
              <a:ext cx="3515487" cy="1813207"/>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4415059" y="2170121"/>
            <a:ext cx="8879096" cy="1652269"/>
          </a:xfrm>
          <a:prstGeom prst="rect">
            <a:avLst/>
          </a:prstGeom>
        </p:spPr>
        <p:txBody>
          <a:bodyPr lIns="0" tIns="0" rIns="0" bIns="0" rtlCol="0" anchor="t">
            <a:spAutoFit/>
          </a:bodyPr>
          <a:lstStyle/>
          <a:p>
            <a:pPr algn="ctr">
              <a:lnSpc>
                <a:spcPts val="12880"/>
              </a:lnSpc>
            </a:pPr>
            <a:r>
              <a:rPr lang="en-US" sz="9200" b="1">
                <a:solidFill>
                  <a:srgbClr val="0A152F"/>
                </a:solidFill>
                <a:latin typeface="Poppins Bold"/>
                <a:ea typeface="Poppins Bold"/>
                <a:cs typeface="Poppins Bold"/>
                <a:sym typeface="Poppins Bold"/>
              </a:rPr>
              <a:t>CONCLUSION</a:t>
            </a:r>
          </a:p>
        </p:txBody>
      </p:sp>
      <p:sp>
        <p:nvSpPr>
          <p:cNvPr id="7" name="TextBox 7"/>
          <p:cNvSpPr txBox="1"/>
          <p:nvPr/>
        </p:nvSpPr>
        <p:spPr>
          <a:xfrm>
            <a:off x="3647252" y="4403802"/>
            <a:ext cx="11390851" cy="511600"/>
          </a:xfrm>
          <a:prstGeom prst="rect">
            <a:avLst/>
          </a:prstGeom>
        </p:spPr>
        <p:txBody>
          <a:bodyPr lIns="0" tIns="0" rIns="0" bIns="0" rtlCol="0" anchor="t">
            <a:spAutoFit/>
          </a:bodyPr>
          <a:lstStyle/>
          <a:p>
            <a:pPr algn="l">
              <a:lnSpc>
                <a:spcPts val="3942"/>
              </a:lnSpc>
            </a:pPr>
            <a:r>
              <a:rPr lang="en-US" sz="2816">
                <a:solidFill>
                  <a:srgbClr val="0A152F"/>
                </a:solidFill>
                <a:latin typeface="Poppins"/>
                <a:ea typeface="Poppins"/>
                <a:cs typeface="Poppins"/>
                <a:sym typeface="Poppins"/>
              </a:rPr>
              <a:t>I</a:t>
            </a:r>
          </a:p>
        </p:txBody>
      </p:sp>
      <p:sp>
        <p:nvSpPr>
          <p:cNvPr id="8" name="TextBox 8"/>
          <p:cNvSpPr txBox="1"/>
          <p:nvPr/>
        </p:nvSpPr>
        <p:spPr>
          <a:xfrm>
            <a:off x="3279289" y="4290401"/>
            <a:ext cx="12126778" cy="2632075"/>
          </a:xfrm>
          <a:prstGeom prst="rect">
            <a:avLst/>
          </a:prstGeom>
        </p:spPr>
        <p:txBody>
          <a:bodyPr lIns="0" tIns="0" rIns="0" bIns="0" rtlCol="0" anchor="t">
            <a:spAutoFit/>
          </a:bodyPr>
          <a:lstStyle/>
          <a:p>
            <a:pPr algn="ctr">
              <a:lnSpc>
                <a:spcPts val="3499"/>
              </a:lnSpc>
              <a:spcBef>
                <a:spcPct val="0"/>
              </a:spcBef>
            </a:pPr>
            <a:r>
              <a:rPr lang="en-US" sz="2499">
                <a:solidFill>
                  <a:srgbClr val="0A152F"/>
                </a:solidFill>
                <a:latin typeface="Poppins"/>
                <a:ea typeface="Poppins"/>
                <a:cs typeface="Poppins"/>
                <a:sym typeface="Poppins"/>
              </a:rPr>
              <a:t>In conclusion, this interactive program shows how machine learning can be used to analyze and predict fruit prices. It helps users explore price trends, view useful charts, and make predictions in a simple and interactive way. This project demonstrates the value of data-driven insights for better understanding and decision-making.</a:t>
            </a:r>
          </a:p>
          <a:p>
            <a:pPr algn="ctr">
              <a:lnSpc>
                <a:spcPts val="3499"/>
              </a:lnSpc>
              <a:spcBef>
                <a:spcPct val="0"/>
              </a:spcBef>
            </a:pPr>
            <a:endParaRPr lang="en-US" sz="2499">
              <a:solidFill>
                <a:srgbClr val="0A152F"/>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sp>
      <p:sp>
        <p:nvSpPr>
          <p:cNvPr id="3" name="TextBox 3"/>
          <p:cNvSpPr txBox="1"/>
          <p:nvPr/>
        </p:nvSpPr>
        <p:spPr>
          <a:xfrm>
            <a:off x="4017684" y="2610822"/>
            <a:ext cx="10252632" cy="5036781"/>
          </a:xfrm>
          <a:prstGeom prst="rect">
            <a:avLst/>
          </a:prstGeom>
        </p:spPr>
        <p:txBody>
          <a:bodyPr lIns="0" tIns="0" rIns="0" bIns="0" rtlCol="0" anchor="t">
            <a:spAutoFit/>
          </a:bodyPr>
          <a:lstStyle/>
          <a:p>
            <a:pPr algn="ctr">
              <a:lnSpc>
                <a:spcPts val="19044"/>
              </a:lnSpc>
            </a:pPr>
            <a:r>
              <a:rPr lang="en-US" sz="17003" b="1">
                <a:solidFill>
                  <a:srgbClr val="FFFFFF"/>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206</Words>
  <Application>Microsoft Office PowerPoint</Application>
  <PresentationFormat>Custom</PresentationFormat>
  <Paragraphs>17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Poppins</vt:lpstr>
      <vt:lpstr>Poppins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Dark Blue and White Simple Thesis Defense Presentation</dc:title>
  <cp:lastModifiedBy>jiayongtan630@gmail.com</cp:lastModifiedBy>
  <cp:revision>4</cp:revision>
  <dcterms:created xsi:type="dcterms:W3CDTF">2006-08-16T00:00:00Z</dcterms:created>
  <dcterms:modified xsi:type="dcterms:W3CDTF">2025-09-04T02:10:29Z</dcterms:modified>
  <dc:identifier>DAGvKAOgaww</dc:identifier>
</cp:coreProperties>
</file>